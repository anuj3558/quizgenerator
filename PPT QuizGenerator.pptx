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omic Sans" panose="020B0604020202020204" charset="0"/>
      <p:regular r:id="rId8"/>
    </p:embeddedFont>
    <p:embeddedFont>
      <p:font typeface="Lato" panose="020F0502020204030203" pitchFamily="34" charset="0"/>
      <p:regular r:id="rId9"/>
    </p:embeddedFont>
    <p:embeddedFont>
      <p:font typeface="Lato Bold" panose="020F0502020204030203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0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34966" y="3800303"/>
            <a:ext cx="4723934" cy="4723934"/>
          </a:xfrm>
          <a:custGeom>
            <a:avLst/>
            <a:gdLst/>
            <a:ahLst/>
            <a:cxnLst/>
            <a:rect l="l" t="t" r="r" b="b"/>
            <a:pathLst>
              <a:path w="4723934" h="4723934">
                <a:moveTo>
                  <a:pt x="0" y="0"/>
                </a:moveTo>
                <a:lnTo>
                  <a:pt x="4723935" y="0"/>
                </a:lnTo>
                <a:lnTo>
                  <a:pt x="4723935" y="4723935"/>
                </a:lnTo>
                <a:lnTo>
                  <a:pt x="0" y="472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1" y="5872751"/>
            <a:ext cx="12458700" cy="1701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Transforming learning with AI-powered quizzes and assessment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5944433" y="8005940"/>
            <a:ext cx="959431" cy="1885860"/>
          </a:xfrm>
          <a:custGeom>
            <a:avLst/>
            <a:gdLst/>
            <a:ahLst/>
            <a:cxnLst/>
            <a:rect l="l" t="t" r="r" b="b"/>
            <a:pathLst>
              <a:path w="959431" h="1885860">
                <a:moveTo>
                  <a:pt x="0" y="0"/>
                </a:moveTo>
                <a:lnTo>
                  <a:pt x="959432" y="0"/>
                </a:lnTo>
                <a:lnTo>
                  <a:pt x="959432" y="1885860"/>
                </a:lnTo>
                <a:lnTo>
                  <a:pt x="0" y="188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301281"/>
            <a:ext cx="11750329" cy="299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47"/>
              </a:lnSpc>
            </a:pPr>
            <a:r>
              <a:rPr lang="en-US" sz="10316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AI QUIZ </a:t>
            </a:r>
            <a:r>
              <a:rPr lang="en-US" sz="10316" b="1" dirty="0">
                <a:solidFill>
                  <a:srgbClr val="F2BE47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136550"/>
            <a:ext cx="3446859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: Code Crafters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Lead : Anuj Loharkar.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member : Swaraj Mahadik.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member : Mukul Agrawal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76957" y="7562921"/>
            <a:ext cx="1162635" cy="27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click to visit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446" y="493576"/>
            <a:ext cx="17308099" cy="9241734"/>
            <a:chOff x="0" y="0"/>
            <a:chExt cx="4558512" cy="2434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58512" cy="2434037"/>
            </a:xfrm>
            <a:custGeom>
              <a:avLst/>
              <a:gdLst/>
              <a:ahLst/>
              <a:cxnLst/>
              <a:rect l="l" t="t" r="r" b="b"/>
              <a:pathLst>
                <a:path w="4558512" h="2434037">
                  <a:moveTo>
                    <a:pt x="8946" y="0"/>
                  </a:moveTo>
                  <a:lnTo>
                    <a:pt x="4549566" y="0"/>
                  </a:lnTo>
                  <a:cubicBezTo>
                    <a:pt x="4551938" y="0"/>
                    <a:pt x="4554214" y="943"/>
                    <a:pt x="4555891" y="2620"/>
                  </a:cubicBezTo>
                  <a:cubicBezTo>
                    <a:pt x="4557569" y="4298"/>
                    <a:pt x="4558512" y="6573"/>
                    <a:pt x="4558512" y="8946"/>
                  </a:cubicBezTo>
                  <a:lnTo>
                    <a:pt x="4558512" y="2425091"/>
                  </a:lnTo>
                  <a:cubicBezTo>
                    <a:pt x="4558512" y="2427464"/>
                    <a:pt x="4557569" y="2429739"/>
                    <a:pt x="4555891" y="2431417"/>
                  </a:cubicBezTo>
                  <a:cubicBezTo>
                    <a:pt x="4554214" y="2433095"/>
                    <a:pt x="4551938" y="2434037"/>
                    <a:pt x="4549566" y="2434037"/>
                  </a:cubicBezTo>
                  <a:lnTo>
                    <a:pt x="8946" y="2434037"/>
                  </a:lnTo>
                  <a:cubicBezTo>
                    <a:pt x="6573" y="2434037"/>
                    <a:pt x="4298" y="2433095"/>
                    <a:pt x="2620" y="2431417"/>
                  </a:cubicBezTo>
                  <a:cubicBezTo>
                    <a:pt x="943" y="2429739"/>
                    <a:pt x="0" y="2427464"/>
                    <a:pt x="0" y="2425091"/>
                  </a:cubicBezTo>
                  <a:lnTo>
                    <a:pt x="0" y="8946"/>
                  </a:lnTo>
                  <a:cubicBezTo>
                    <a:pt x="0" y="6573"/>
                    <a:pt x="943" y="4298"/>
                    <a:pt x="2620" y="2620"/>
                  </a:cubicBezTo>
                  <a:cubicBezTo>
                    <a:pt x="4298" y="943"/>
                    <a:pt x="6573" y="0"/>
                    <a:pt x="8946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58512" cy="2472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4738" y="4688461"/>
            <a:ext cx="5461459" cy="431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4174" lvl="1" indent="-242087" algn="l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AI-driven quiz and content generation based on syllabus or curriculum.</a:t>
            </a:r>
          </a:p>
          <a:p>
            <a:pPr algn="l">
              <a:lnSpc>
                <a:spcPts val="3139"/>
              </a:lnSpc>
            </a:pPr>
            <a:endParaRPr lang="en-US" sz="2242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4174" lvl="1" indent="-242087" algn="l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Personalized, adaptive learning paths for students.</a:t>
            </a:r>
          </a:p>
          <a:p>
            <a:pPr algn="l">
              <a:lnSpc>
                <a:spcPts val="3139"/>
              </a:lnSpc>
            </a:pPr>
            <a:endParaRPr lang="en-US" sz="2242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4174" lvl="1" indent="-242087" algn="l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Instant feedback and detailed performance analytics.</a:t>
            </a:r>
          </a:p>
          <a:p>
            <a:pPr algn="l">
              <a:lnSpc>
                <a:spcPts val="3139"/>
              </a:lnSpc>
            </a:pPr>
            <a:endParaRPr lang="en-US" sz="2242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4174" lvl="1" indent="-242087" algn="l">
              <a:lnSpc>
                <a:spcPts val="3139"/>
              </a:lnSpc>
              <a:buFont typeface="Arial"/>
              <a:buChar char="•"/>
            </a:pPr>
            <a:r>
              <a:rPr lang="en-US" sz="2242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Web application with classroom management features.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46197" y="4688461"/>
            <a:ext cx="6118512" cy="428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Automates quiz creation from teaching materials (PDFs, Word docs).</a:t>
            </a:r>
          </a:p>
          <a:p>
            <a:pPr algn="l">
              <a:lnSpc>
                <a:spcPts val="3136"/>
              </a:lnSpc>
            </a:pPr>
            <a:endParaRPr lang="en-US" sz="224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Saves teachers' time by covering key topics efficiently.</a:t>
            </a:r>
          </a:p>
          <a:p>
            <a:pPr algn="l">
              <a:lnSpc>
                <a:spcPts val="3136"/>
              </a:lnSpc>
            </a:pPr>
            <a:endParaRPr lang="en-US" sz="224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Simplifies grading and tracks student progress over time.</a:t>
            </a:r>
          </a:p>
          <a:p>
            <a:pPr algn="l">
              <a:lnSpc>
                <a:spcPts val="3136"/>
              </a:lnSpc>
            </a:pPr>
            <a:endParaRPr lang="en-US" sz="224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Provides a user-friendly interface for teachers to create and manage quizzes.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41077" y="4688461"/>
            <a:ext cx="5423175" cy="467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AI-generated diverse question types based on document content.</a:t>
            </a:r>
          </a:p>
          <a:p>
            <a:pPr algn="l">
              <a:lnSpc>
                <a:spcPts val="3136"/>
              </a:lnSpc>
            </a:pPr>
            <a:endParaRPr lang="en-US" sz="224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Adaptive learning paths tailored to individual student needs.</a:t>
            </a:r>
          </a:p>
          <a:p>
            <a:pPr algn="l">
              <a:lnSpc>
                <a:spcPts val="3136"/>
              </a:lnSpc>
            </a:pPr>
            <a:endParaRPr lang="en-US" sz="224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Instant feedback with comprehensive performance analytics.</a:t>
            </a:r>
          </a:p>
          <a:p>
            <a:pPr algn="l">
              <a:lnSpc>
                <a:spcPts val="3136"/>
              </a:lnSpc>
            </a:pPr>
            <a:endParaRPr lang="en-US" sz="224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83617" lvl="1" indent="-241808" algn="l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Integrates classroom management for enhanced student tracking and engagement.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63257" y="1251785"/>
            <a:ext cx="5088136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How it Addresses the Problem: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66259" y="1251785"/>
            <a:ext cx="4560927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Innovation and Uniqueness: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1279532"/>
            <a:ext cx="421719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Overview of the Solution: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446" y="493576"/>
            <a:ext cx="17308099" cy="9241734"/>
            <a:chOff x="0" y="0"/>
            <a:chExt cx="4558512" cy="2434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58512" cy="2434037"/>
            </a:xfrm>
            <a:custGeom>
              <a:avLst/>
              <a:gdLst/>
              <a:ahLst/>
              <a:cxnLst/>
              <a:rect l="l" t="t" r="r" b="b"/>
              <a:pathLst>
                <a:path w="4558512" h="2434037">
                  <a:moveTo>
                    <a:pt x="8946" y="0"/>
                  </a:moveTo>
                  <a:lnTo>
                    <a:pt x="4549566" y="0"/>
                  </a:lnTo>
                  <a:cubicBezTo>
                    <a:pt x="4551938" y="0"/>
                    <a:pt x="4554214" y="943"/>
                    <a:pt x="4555891" y="2620"/>
                  </a:cubicBezTo>
                  <a:cubicBezTo>
                    <a:pt x="4557569" y="4298"/>
                    <a:pt x="4558512" y="6573"/>
                    <a:pt x="4558512" y="8946"/>
                  </a:cubicBezTo>
                  <a:lnTo>
                    <a:pt x="4558512" y="2425091"/>
                  </a:lnTo>
                  <a:cubicBezTo>
                    <a:pt x="4558512" y="2427464"/>
                    <a:pt x="4557569" y="2429739"/>
                    <a:pt x="4555891" y="2431417"/>
                  </a:cubicBezTo>
                  <a:cubicBezTo>
                    <a:pt x="4554214" y="2433095"/>
                    <a:pt x="4551938" y="2434037"/>
                    <a:pt x="4549566" y="2434037"/>
                  </a:cubicBezTo>
                  <a:lnTo>
                    <a:pt x="8946" y="2434037"/>
                  </a:lnTo>
                  <a:cubicBezTo>
                    <a:pt x="6573" y="2434037"/>
                    <a:pt x="4298" y="2433095"/>
                    <a:pt x="2620" y="2431417"/>
                  </a:cubicBezTo>
                  <a:cubicBezTo>
                    <a:pt x="943" y="2429739"/>
                    <a:pt x="0" y="2427464"/>
                    <a:pt x="0" y="2425091"/>
                  </a:cubicBezTo>
                  <a:lnTo>
                    <a:pt x="0" y="8946"/>
                  </a:lnTo>
                  <a:cubicBezTo>
                    <a:pt x="0" y="6573"/>
                    <a:pt x="943" y="4298"/>
                    <a:pt x="2620" y="2620"/>
                  </a:cubicBezTo>
                  <a:cubicBezTo>
                    <a:pt x="4298" y="943"/>
                    <a:pt x="6573" y="0"/>
                    <a:pt x="8946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58512" cy="2472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95105" y="3423651"/>
            <a:ext cx="4155349" cy="5834649"/>
          </a:xfrm>
          <a:custGeom>
            <a:avLst/>
            <a:gdLst/>
            <a:ahLst/>
            <a:cxnLst/>
            <a:rect l="l" t="t" r="r" b="b"/>
            <a:pathLst>
              <a:path w="4155349" h="5834649">
                <a:moveTo>
                  <a:pt x="0" y="0"/>
                </a:moveTo>
                <a:lnTo>
                  <a:pt x="4155349" y="0"/>
                </a:lnTo>
                <a:lnTo>
                  <a:pt x="4155349" y="5834649"/>
                </a:lnTo>
                <a:lnTo>
                  <a:pt x="0" y="5834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603699" y="4083510"/>
            <a:ext cx="4128745" cy="4128745"/>
          </a:xfrm>
          <a:custGeom>
            <a:avLst/>
            <a:gdLst/>
            <a:ahLst/>
            <a:cxnLst/>
            <a:rect l="l" t="t" r="r" b="b"/>
            <a:pathLst>
              <a:path w="4128745" h="4128745">
                <a:moveTo>
                  <a:pt x="0" y="0"/>
                </a:moveTo>
                <a:lnTo>
                  <a:pt x="4128744" y="0"/>
                </a:lnTo>
                <a:lnTo>
                  <a:pt x="4128744" y="4128744"/>
                </a:lnTo>
                <a:lnTo>
                  <a:pt x="0" y="4128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393791" y="5034595"/>
            <a:ext cx="5145396" cy="2612761"/>
            <a:chOff x="0" y="0"/>
            <a:chExt cx="6860528" cy="3483682"/>
          </a:xfrm>
        </p:grpSpPr>
        <p:sp>
          <p:nvSpPr>
            <p:cNvPr id="9" name="Freeform 9"/>
            <p:cNvSpPr/>
            <p:nvPr/>
          </p:nvSpPr>
          <p:spPr>
            <a:xfrm>
              <a:off x="3968413" y="0"/>
              <a:ext cx="2749744" cy="769928"/>
            </a:xfrm>
            <a:custGeom>
              <a:avLst/>
              <a:gdLst/>
              <a:ahLst/>
              <a:cxnLst/>
              <a:rect l="l" t="t" r="r" b="b"/>
              <a:pathLst>
                <a:path w="2749744" h="769928">
                  <a:moveTo>
                    <a:pt x="0" y="0"/>
                  </a:moveTo>
                  <a:lnTo>
                    <a:pt x="2749744" y="0"/>
                  </a:lnTo>
                  <a:lnTo>
                    <a:pt x="2749744" y="769928"/>
                  </a:lnTo>
                  <a:lnTo>
                    <a:pt x="0" y="769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871182" cy="1857171"/>
            </a:xfrm>
            <a:custGeom>
              <a:avLst/>
              <a:gdLst/>
              <a:ahLst/>
              <a:cxnLst/>
              <a:rect l="l" t="t" r="r" b="b"/>
              <a:pathLst>
                <a:path w="871182" h="1857171">
                  <a:moveTo>
                    <a:pt x="0" y="0"/>
                  </a:moveTo>
                  <a:lnTo>
                    <a:pt x="871182" y="0"/>
                  </a:lnTo>
                  <a:lnTo>
                    <a:pt x="871182" y="1857171"/>
                  </a:lnTo>
                  <a:lnTo>
                    <a:pt x="0" y="1857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532237" y="0"/>
              <a:ext cx="2006766" cy="1857171"/>
            </a:xfrm>
            <a:custGeom>
              <a:avLst/>
              <a:gdLst/>
              <a:ahLst/>
              <a:cxnLst/>
              <a:rect l="l" t="t" r="r" b="b"/>
              <a:pathLst>
                <a:path w="2006766" h="1857171">
                  <a:moveTo>
                    <a:pt x="0" y="0"/>
                  </a:moveTo>
                  <a:lnTo>
                    <a:pt x="2006766" y="0"/>
                  </a:lnTo>
                  <a:lnTo>
                    <a:pt x="2006766" y="1857171"/>
                  </a:lnTo>
                  <a:lnTo>
                    <a:pt x="0" y="1857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4341083" y="2570526"/>
              <a:ext cx="1492084" cy="913156"/>
            </a:xfrm>
            <a:custGeom>
              <a:avLst/>
              <a:gdLst/>
              <a:ahLst/>
              <a:cxnLst/>
              <a:rect l="l" t="t" r="r" b="b"/>
              <a:pathLst>
                <a:path w="1492084" h="913156">
                  <a:moveTo>
                    <a:pt x="0" y="0"/>
                  </a:moveTo>
                  <a:lnTo>
                    <a:pt x="1492085" y="0"/>
                  </a:lnTo>
                  <a:lnTo>
                    <a:pt x="1492085" y="913156"/>
                  </a:lnTo>
                  <a:lnTo>
                    <a:pt x="0" y="913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94942" y="1051224"/>
              <a:ext cx="2865587" cy="805946"/>
            </a:xfrm>
            <a:custGeom>
              <a:avLst/>
              <a:gdLst/>
              <a:ahLst/>
              <a:cxnLst/>
              <a:rect l="l" t="t" r="r" b="b"/>
              <a:pathLst>
                <a:path w="2865587" h="805946">
                  <a:moveTo>
                    <a:pt x="0" y="0"/>
                  </a:moveTo>
                  <a:lnTo>
                    <a:pt x="2865586" y="0"/>
                  </a:lnTo>
                  <a:lnTo>
                    <a:pt x="2865586" y="805947"/>
                  </a:lnTo>
                  <a:lnTo>
                    <a:pt x="0" y="80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738089" y="2668393"/>
              <a:ext cx="2800914" cy="815289"/>
            </a:xfrm>
            <a:custGeom>
              <a:avLst/>
              <a:gdLst/>
              <a:ahLst/>
              <a:cxnLst/>
              <a:rect l="l" t="t" r="r" b="b"/>
              <a:pathLst>
                <a:path w="2800914" h="815289">
                  <a:moveTo>
                    <a:pt x="0" y="0"/>
                  </a:moveTo>
                  <a:lnTo>
                    <a:pt x="2800914" y="0"/>
                  </a:lnTo>
                  <a:lnTo>
                    <a:pt x="2800914" y="815289"/>
                  </a:lnTo>
                  <a:lnTo>
                    <a:pt x="0" y="815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17001" b="-126547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rot="5400000">
            <a:off x="-3310380" y="-2222638"/>
            <a:ext cx="6152631" cy="4445276"/>
          </a:xfrm>
          <a:custGeom>
            <a:avLst/>
            <a:gdLst/>
            <a:ahLst/>
            <a:cxnLst/>
            <a:rect l="l" t="t" r="r" b="b"/>
            <a:pathLst>
              <a:path w="6152631" h="4445276">
                <a:moveTo>
                  <a:pt x="0" y="0"/>
                </a:moveTo>
                <a:lnTo>
                  <a:pt x="6152630" y="0"/>
                </a:lnTo>
                <a:lnTo>
                  <a:pt x="6152630" y="4445276"/>
                </a:lnTo>
                <a:lnTo>
                  <a:pt x="0" y="44452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1BB914-39C3-CA65-3033-7428FC8022D2}"/>
              </a:ext>
            </a:extLst>
          </p:cNvPr>
          <p:cNvSpPr txBox="1"/>
          <p:nvPr/>
        </p:nvSpPr>
        <p:spPr>
          <a:xfrm>
            <a:off x="2754720" y="775957"/>
            <a:ext cx="12586648" cy="1466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347"/>
              </a:lnSpc>
            </a:pPr>
            <a:r>
              <a:rPr lang="en-US" sz="8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Flow Chart &amp; </a:t>
            </a:r>
            <a:r>
              <a:rPr lang="en-US" sz="8000" b="1" dirty="0" err="1">
                <a:solidFill>
                  <a:srgbClr val="F2BE47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</a:t>
            </a:r>
            <a:endParaRPr lang="en-US" sz="8000" b="1" dirty="0">
              <a:solidFill>
                <a:srgbClr val="F2BE4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446" y="493576"/>
            <a:ext cx="17308099" cy="9241734"/>
            <a:chOff x="0" y="0"/>
            <a:chExt cx="4558512" cy="2434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58512" cy="2434037"/>
            </a:xfrm>
            <a:custGeom>
              <a:avLst/>
              <a:gdLst/>
              <a:ahLst/>
              <a:cxnLst/>
              <a:rect l="l" t="t" r="r" b="b"/>
              <a:pathLst>
                <a:path w="4558512" h="2434037">
                  <a:moveTo>
                    <a:pt x="8946" y="0"/>
                  </a:moveTo>
                  <a:lnTo>
                    <a:pt x="4549566" y="0"/>
                  </a:lnTo>
                  <a:cubicBezTo>
                    <a:pt x="4551938" y="0"/>
                    <a:pt x="4554214" y="943"/>
                    <a:pt x="4555891" y="2620"/>
                  </a:cubicBezTo>
                  <a:cubicBezTo>
                    <a:pt x="4557569" y="4298"/>
                    <a:pt x="4558512" y="6573"/>
                    <a:pt x="4558512" y="8946"/>
                  </a:cubicBezTo>
                  <a:lnTo>
                    <a:pt x="4558512" y="2425091"/>
                  </a:lnTo>
                  <a:cubicBezTo>
                    <a:pt x="4558512" y="2427464"/>
                    <a:pt x="4557569" y="2429739"/>
                    <a:pt x="4555891" y="2431417"/>
                  </a:cubicBezTo>
                  <a:cubicBezTo>
                    <a:pt x="4554214" y="2433095"/>
                    <a:pt x="4551938" y="2434037"/>
                    <a:pt x="4549566" y="2434037"/>
                  </a:cubicBezTo>
                  <a:lnTo>
                    <a:pt x="8946" y="2434037"/>
                  </a:lnTo>
                  <a:cubicBezTo>
                    <a:pt x="6573" y="2434037"/>
                    <a:pt x="4298" y="2433095"/>
                    <a:pt x="2620" y="2431417"/>
                  </a:cubicBezTo>
                  <a:cubicBezTo>
                    <a:pt x="943" y="2429739"/>
                    <a:pt x="0" y="2427464"/>
                    <a:pt x="0" y="2425091"/>
                  </a:cubicBezTo>
                  <a:lnTo>
                    <a:pt x="0" y="8946"/>
                  </a:lnTo>
                  <a:cubicBezTo>
                    <a:pt x="0" y="6573"/>
                    <a:pt x="943" y="4298"/>
                    <a:pt x="2620" y="2620"/>
                  </a:cubicBezTo>
                  <a:cubicBezTo>
                    <a:pt x="4298" y="943"/>
                    <a:pt x="6573" y="0"/>
                    <a:pt x="8946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58512" cy="2472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14011079" y="-2759658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499423"/>
            <a:ext cx="5070741" cy="362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Frontend: React.js</a:t>
            </a:r>
          </a:p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Backend: Node.js with Express.js</a:t>
            </a:r>
          </a:p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Database: MongoDB</a:t>
            </a:r>
          </a:p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AI Tools: NLP for quiz generation</a:t>
            </a:r>
          </a:p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UI Libraries: Tailwind CSS</a:t>
            </a:r>
          </a:p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Authentication: JWT</a:t>
            </a:r>
          </a:p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Cloud Services: AWS/Google Cloud for hosting and scalability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50746" y="5499423"/>
            <a:ext cx="5027626" cy="362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3610"/>
              </a:lnSpc>
              <a:buFont typeface="Arial"/>
              <a:buChar char="•"/>
            </a:pPr>
            <a:r>
              <a:rPr lang="en-US" sz="19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Question Generation: NLP extracts topics and creates quiz questions.</a:t>
            </a:r>
          </a:p>
          <a:p>
            <a:pPr marL="410211" lvl="1" indent="-205106" algn="l">
              <a:lnSpc>
                <a:spcPts val="3610"/>
              </a:lnSpc>
              <a:buFont typeface="Arial"/>
              <a:buChar char="•"/>
            </a:pPr>
            <a:r>
              <a:rPr lang="en-US" sz="19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Adaptive Learning: Algorithm customizes learning paths based on performance.</a:t>
            </a:r>
          </a:p>
          <a:p>
            <a:pPr marL="410211" lvl="1" indent="-205106" algn="l">
              <a:lnSpc>
                <a:spcPts val="3610"/>
              </a:lnSpc>
              <a:buFont typeface="Arial"/>
              <a:buChar char="•"/>
            </a:pPr>
            <a:r>
              <a:rPr lang="en-US" sz="19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Grading: Auto-grades quizzes and provides real-time feedback.</a:t>
            </a:r>
          </a:p>
          <a:p>
            <a:pPr marL="410211" lvl="1" indent="-205106" algn="l">
              <a:lnSpc>
                <a:spcPts val="3610"/>
              </a:lnSpc>
              <a:buFont typeface="Arial"/>
              <a:buChar char="•"/>
            </a:pPr>
            <a:r>
              <a:rPr lang="en-US" sz="190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Performance Analytics: Tracks and analyzes progress, offering insights.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60583" y="5499423"/>
            <a:ext cx="5228213" cy="225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 dirty="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Integration: RESTful APIs connect frontend with backend and AI tools.</a:t>
            </a:r>
          </a:p>
          <a:p>
            <a:pPr marL="410209" lvl="1" indent="-205105" algn="l">
              <a:lnSpc>
                <a:spcPts val="3609"/>
              </a:lnSpc>
              <a:buFont typeface="Arial"/>
              <a:buChar char="•"/>
            </a:pPr>
            <a:r>
              <a:rPr lang="en-US" sz="1899" dirty="0">
                <a:solidFill>
                  <a:srgbClr val="FBF9F1"/>
                </a:solidFill>
                <a:latin typeface="Lato"/>
                <a:ea typeface="Lato"/>
                <a:cs typeface="Lato"/>
                <a:sym typeface="Lato"/>
              </a:rPr>
              <a:t>Scalability: Cloud infrastructure and microservices architecture ensure seamless scaling for increased users and workloads.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34200" y="1260233"/>
            <a:ext cx="402312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Integration &amp; Scalability: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48466" y="1165537"/>
            <a:ext cx="3936042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Key Algorithms/Processes: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0169" y="1251978"/>
            <a:ext cx="4547801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Key Technologies/Frameworks: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4738" y="669968"/>
            <a:ext cx="16363502" cy="2244868"/>
          </a:xfrm>
          <a:custGeom>
            <a:avLst/>
            <a:gdLst/>
            <a:ahLst/>
            <a:cxnLst/>
            <a:rect l="l" t="t" r="r" b="b"/>
            <a:pathLst>
              <a:path w="16363502" h="2244868">
                <a:moveTo>
                  <a:pt x="0" y="0"/>
                </a:moveTo>
                <a:lnTo>
                  <a:pt x="16363502" y="0"/>
                </a:lnTo>
                <a:lnTo>
                  <a:pt x="16363502" y="2244867"/>
                </a:lnTo>
                <a:lnTo>
                  <a:pt x="0" y="2244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109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20446" y="493576"/>
            <a:ext cx="17308099" cy="9241734"/>
            <a:chOff x="0" y="0"/>
            <a:chExt cx="4558512" cy="24340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58512" cy="2434037"/>
            </a:xfrm>
            <a:custGeom>
              <a:avLst/>
              <a:gdLst/>
              <a:ahLst/>
              <a:cxnLst/>
              <a:rect l="l" t="t" r="r" b="b"/>
              <a:pathLst>
                <a:path w="4558512" h="2434037">
                  <a:moveTo>
                    <a:pt x="8946" y="0"/>
                  </a:moveTo>
                  <a:lnTo>
                    <a:pt x="4549566" y="0"/>
                  </a:lnTo>
                  <a:cubicBezTo>
                    <a:pt x="4551938" y="0"/>
                    <a:pt x="4554214" y="943"/>
                    <a:pt x="4555891" y="2620"/>
                  </a:cubicBezTo>
                  <a:cubicBezTo>
                    <a:pt x="4557569" y="4298"/>
                    <a:pt x="4558512" y="6573"/>
                    <a:pt x="4558512" y="8946"/>
                  </a:cubicBezTo>
                  <a:lnTo>
                    <a:pt x="4558512" y="2425091"/>
                  </a:lnTo>
                  <a:cubicBezTo>
                    <a:pt x="4558512" y="2427464"/>
                    <a:pt x="4557569" y="2429739"/>
                    <a:pt x="4555891" y="2431417"/>
                  </a:cubicBezTo>
                  <a:cubicBezTo>
                    <a:pt x="4554214" y="2433095"/>
                    <a:pt x="4551938" y="2434037"/>
                    <a:pt x="4549566" y="2434037"/>
                  </a:cubicBezTo>
                  <a:lnTo>
                    <a:pt x="8946" y="2434037"/>
                  </a:lnTo>
                  <a:cubicBezTo>
                    <a:pt x="6573" y="2434037"/>
                    <a:pt x="4298" y="2433095"/>
                    <a:pt x="2620" y="2431417"/>
                  </a:cubicBezTo>
                  <a:cubicBezTo>
                    <a:pt x="943" y="2429739"/>
                    <a:pt x="0" y="2427464"/>
                    <a:pt x="0" y="2425091"/>
                  </a:cubicBezTo>
                  <a:lnTo>
                    <a:pt x="0" y="8946"/>
                  </a:lnTo>
                  <a:cubicBezTo>
                    <a:pt x="0" y="6573"/>
                    <a:pt x="943" y="4298"/>
                    <a:pt x="2620" y="2620"/>
                  </a:cubicBezTo>
                  <a:cubicBezTo>
                    <a:pt x="4298" y="943"/>
                    <a:pt x="6573" y="0"/>
                    <a:pt x="8946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4558512" cy="2567387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366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12464" y="1991675"/>
            <a:ext cx="4804434" cy="712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69"/>
              </a:lnSpc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Feasibility Analysis:</a:t>
            </a: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3220"/>
              </a:lnSpc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idea is feasible with current technologies like NLP for quiz generation, adaptive learning algorithms, and scalable cloud infrastructure. Developing a user-friendly platform for both teachers and students is achievable using proven web development frameworks (React, Node.js).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89533" y="2126176"/>
            <a:ext cx="5586281" cy="713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Potential Challenges and Risks:</a:t>
            </a:r>
          </a:p>
          <a:p>
            <a:pPr algn="l">
              <a:lnSpc>
                <a:spcPts val="3362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362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362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362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362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362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3362"/>
              </a:lnSpc>
            </a:pPr>
            <a:r>
              <a:rPr lang="en-US" sz="1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NLP Accuracy: Difficulty in accurately generating contextually relevant questions from diverse educational materials.</a:t>
            </a:r>
          </a:p>
          <a:p>
            <a:pPr algn="l">
              <a:lnSpc>
                <a:spcPts val="3362"/>
              </a:lnSpc>
            </a:pPr>
            <a:r>
              <a:rPr lang="en-US" sz="1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Scalability: Handling high user traffic, especially during peak usage times (e.g., exam periods).</a:t>
            </a:r>
          </a:p>
          <a:p>
            <a:pPr algn="l">
              <a:lnSpc>
                <a:spcPts val="3362"/>
              </a:lnSpc>
            </a:pPr>
            <a:r>
              <a:rPr lang="en-US" sz="1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Privacy: Ensuring secure storage and management of student and teacher data.</a:t>
            </a:r>
          </a:p>
          <a:p>
            <a:pPr algn="l">
              <a:lnSpc>
                <a:spcPts val="3362"/>
              </a:lnSpc>
            </a:pPr>
            <a:r>
              <a:rPr lang="en-US" sz="1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 Adoption: Resistance from teachers or institutions unfamiliar with tech-based solutions.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55998" y="1991675"/>
            <a:ext cx="5494435" cy="762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2900" b="1" dirty="0">
                <a:solidFill>
                  <a:srgbClr val="F2BE47"/>
                </a:solidFill>
                <a:latin typeface="Lato Bold"/>
                <a:ea typeface="Lato Bold"/>
                <a:cs typeface="Lato Bold"/>
                <a:sym typeface="Lato Bold"/>
              </a:rPr>
              <a:t>Strategies for Overcoming Challenges:</a:t>
            </a: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endParaRPr lang="en-US" sz="2900" b="1" dirty="0">
              <a:solidFill>
                <a:srgbClr val="F2BE47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l">
              <a:lnSpc>
                <a:spcPts val="2750"/>
              </a:lnSpc>
            </a:pPr>
            <a:r>
              <a:rPr lang="en-US" sz="1697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NLP Tuning: Continuously improve NLP models with feedback loops to ensure high accuracy in question generation.</a:t>
            </a:r>
          </a:p>
          <a:p>
            <a:pPr algn="l">
              <a:lnSpc>
                <a:spcPts val="2750"/>
              </a:lnSpc>
            </a:pPr>
            <a:r>
              <a:rPr lang="en-US" sz="1697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Cloud Scaling: Implement auto-scaling and load-balancing strategies to manage high traffic.</a:t>
            </a:r>
          </a:p>
          <a:p>
            <a:pPr algn="l">
              <a:lnSpc>
                <a:spcPts val="2750"/>
              </a:lnSpc>
            </a:pPr>
            <a:r>
              <a:rPr lang="en-US" sz="1697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Security: Use encryption, secure authentication (JWT), and compliance with data privacy regulations (e.g., GDPR).</a:t>
            </a:r>
          </a:p>
          <a:p>
            <a:pPr algn="l">
              <a:lnSpc>
                <a:spcPts val="2750"/>
              </a:lnSpc>
            </a:pPr>
            <a:r>
              <a:rPr lang="en-US" sz="1697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 Training: Offer tutorials and onboarding sessions to ease the adoption process for new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53520" y="382574"/>
            <a:ext cx="4348588" cy="2446081"/>
          </a:xfrm>
          <a:custGeom>
            <a:avLst/>
            <a:gdLst/>
            <a:ahLst/>
            <a:cxnLst/>
            <a:rect l="l" t="t" r="r" b="b"/>
            <a:pathLst>
              <a:path w="4348588" h="2446081">
                <a:moveTo>
                  <a:pt x="0" y="0"/>
                </a:moveTo>
                <a:lnTo>
                  <a:pt x="4348587" y="0"/>
                </a:lnTo>
                <a:lnTo>
                  <a:pt x="4348587" y="2446081"/>
                </a:lnTo>
                <a:lnTo>
                  <a:pt x="0" y="2446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0707" y="382574"/>
            <a:ext cx="4348588" cy="2446081"/>
          </a:xfrm>
          <a:custGeom>
            <a:avLst/>
            <a:gdLst/>
            <a:ahLst/>
            <a:cxnLst/>
            <a:rect l="l" t="t" r="r" b="b"/>
            <a:pathLst>
              <a:path w="4348588" h="2446081">
                <a:moveTo>
                  <a:pt x="0" y="0"/>
                </a:moveTo>
                <a:lnTo>
                  <a:pt x="4348588" y="0"/>
                </a:lnTo>
                <a:lnTo>
                  <a:pt x="4348588" y="2446081"/>
                </a:lnTo>
                <a:lnTo>
                  <a:pt x="0" y="2446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16031" y="366075"/>
            <a:ext cx="4631917" cy="2462580"/>
          </a:xfrm>
          <a:custGeom>
            <a:avLst/>
            <a:gdLst/>
            <a:ahLst/>
            <a:cxnLst/>
            <a:rect l="l" t="t" r="r" b="b"/>
            <a:pathLst>
              <a:path w="4631917" h="2462580">
                <a:moveTo>
                  <a:pt x="0" y="0"/>
                </a:moveTo>
                <a:lnTo>
                  <a:pt x="4631917" y="0"/>
                </a:lnTo>
                <a:lnTo>
                  <a:pt x="4631917" y="2462580"/>
                </a:lnTo>
                <a:lnTo>
                  <a:pt x="0" y="2462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900" b="-290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7085" y="3597633"/>
            <a:ext cx="4582210" cy="2577493"/>
          </a:xfrm>
          <a:custGeom>
            <a:avLst/>
            <a:gdLst/>
            <a:ahLst/>
            <a:cxnLst/>
            <a:rect l="l" t="t" r="r" b="b"/>
            <a:pathLst>
              <a:path w="4582210" h="2577493">
                <a:moveTo>
                  <a:pt x="0" y="0"/>
                </a:moveTo>
                <a:lnTo>
                  <a:pt x="4582210" y="0"/>
                </a:lnTo>
                <a:lnTo>
                  <a:pt x="4582210" y="2577493"/>
                </a:lnTo>
                <a:lnTo>
                  <a:pt x="0" y="2577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76881" y="3731892"/>
            <a:ext cx="4403936" cy="2477214"/>
          </a:xfrm>
          <a:custGeom>
            <a:avLst/>
            <a:gdLst/>
            <a:ahLst/>
            <a:cxnLst/>
            <a:rect l="l" t="t" r="r" b="b"/>
            <a:pathLst>
              <a:path w="4403936" h="2477214">
                <a:moveTo>
                  <a:pt x="0" y="0"/>
                </a:moveTo>
                <a:lnTo>
                  <a:pt x="4403935" y="0"/>
                </a:lnTo>
                <a:lnTo>
                  <a:pt x="4403935" y="2477214"/>
                </a:lnTo>
                <a:lnTo>
                  <a:pt x="0" y="24772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489890" y="3731892"/>
            <a:ext cx="4582210" cy="2577493"/>
          </a:xfrm>
          <a:custGeom>
            <a:avLst/>
            <a:gdLst/>
            <a:ahLst/>
            <a:cxnLst/>
            <a:rect l="l" t="t" r="r" b="b"/>
            <a:pathLst>
              <a:path w="4582210" h="2577493">
                <a:moveTo>
                  <a:pt x="0" y="0"/>
                </a:moveTo>
                <a:lnTo>
                  <a:pt x="4582209" y="0"/>
                </a:lnTo>
                <a:lnTo>
                  <a:pt x="4582209" y="2577493"/>
                </a:lnTo>
                <a:lnTo>
                  <a:pt x="0" y="25774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7074788"/>
            <a:ext cx="4358979" cy="2451926"/>
          </a:xfrm>
          <a:custGeom>
            <a:avLst/>
            <a:gdLst/>
            <a:ahLst/>
            <a:cxnLst/>
            <a:rect l="l" t="t" r="r" b="b"/>
            <a:pathLst>
              <a:path w="4358979" h="2451926">
                <a:moveTo>
                  <a:pt x="0" y="0"/>
                </a:moveTo>
                <a:lnTo>
                  <a:pt x="4358979" y="0"/>
                </a:lnTo>
                <a:lnTo>
                  <a:pt x="4358979" y="2451926"/>
                </a:lnTo>
                <a:lnTo>
                  <a:pt x="0" y="24519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98818" y="7012064"/>
            <a:ext cx="4581998" cy="2577374"/>
          </a:xfrm>
          <a:custGeom>
            <a:avLst/>
            <a:gdLst/>
            <a:ahLst/>
            <a:cxnLst/>
            <a:rect l="l" t="t" r="r" b="b"/>
            <a:pathLst>
              <a:path w="4581998" h="2577374">
                <a:moveTo>
                  <a:pt x="0" y="0"/>
                </a:moveTo>
                <a:lnTo>
                  <a:pt x="4581998" y="0"/>
                </a:lnTo>
                <a:lnTo>
                  <a:pt x="4581998" y="2577374"/>
                </a:lnTo>
                <a:lnTo>
                  <a:pt x="0" y="25773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672993" y="7012064"/>
            <a:ext cx="4399106" cy="2474497"/>
          </a:xfrm>
          <a:custGeom>
            <a:avLst/>
            <a:gdLst/>
            <a:ahLst/>
            <a:cxnLst/>
            <a:rect l="l" t="t" r="r" b="b"/>
            <a:pathLst>
              <a:path w="4399106" h="2474497">
                <a:moveTo>
                  <a:pt x="0" y="0"/>
                </a:moveTo>
                <a:lnTo>
                  <a:pt x="4399106" y="0"/>
                </a:lnTo>
                <a:lnTo>
                  <a:pt x="4399106" y="2474498"/>
                </a:lnTo>
                <a:lnTo>
                  <a:pt x="0" y="24744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483</Words>
  <Application>Microsoft Office PowerPoint</Application>
  <PresentationFormat>Custom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Poppins Bold</vt:lpstr>
      <vt:lpstr>Poppins</vt:lpstr>
      <vt:lpstr>Arial</vt:lpstr>
      <vt:lpstr>Lato</vt:lpstr>
      <vt:lpstr>Lato Bold</vt:lpstr>
      <vt:lpstr>Comic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Elegant and Modern Startup Pitch Deck Presentation</dc:title>
  <cp:lastModifiedBy>anuj loharkar</cp:lastModifiedBy>
  <cp:revision>2</cp:revision>
  <dcterms:created xsi:type="dcterms:W3CDTF">2006-08-16T00:00:00Z</dcterms:created>
  <dcterms:modified xsi:type="dcterms:W3CDTF">2024-10-17T15:19:46Z</dcterms:modified>
  <dc:identifier>DAGSJ6XcRzY</dc:identifier>
</cp:coreProperties>
</file>